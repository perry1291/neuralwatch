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437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441563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8288000" cy="1163955"/>
          </a:xfrm>
          <a:custGeom>
            <a:avLst/>
            <a:gdLst/>
            <a:ahLst/>
            <a:cxnLst/>
            <a:rect l="l" t="t" r="r" b="b"/>
            <a:pathLst>
              <a:path w="18288000" h="1163955">
                <a:moveTo>
                  <a:pt x="18288000" y="1163806"/>
                </a:moveTo>
                <a:lnTo>
                  <a:pt x="0" y="1163806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163806"/>
                </a:lnTo>
                <a:close/>
              </a:path>
            </a:pathLst>
          </a:custGeom>
          <a:solidFill>
            <a:srgbClr val="DEE3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09504" y="3171615"/>
            <a:ext cx="11268990" cy="2590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16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5" Type="http://schemas.openxmlformats.org/officeDocument/2006/relationships/image" Target="../media/image19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1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0199" y="4720450"/>
            <a:ext cx="15087600" cy="2836674"/>
          </a:xfrm>
          <a:prstGeom prst="rect">
            <a:avLst/>
          </a:prstGeom>
        </p:spPr>
        <p:txBody>
          <a:bodyPr vert="horz" wrap="square" lIns="0" tIns="347980" rIns="0" bIns="0" rtlCol="0">
            <a:spAutoFit/>
          </a:bodyPr>
          <a:lstStyle/>
          <a:p>
            <a:pPr marL="166370" algn="ctr">
              <a:lnSpc>
                <a:spcPct val="100000"/>
              </a:lnSpc>
              <a:spcBef>
                <a:spcPts val="1470"/>
              </a:spcBef>
            </a:pPr>
            <a:r>
              <a:rPr lang="en-US" sz="4800" b="1" dirty="0">
                <a:solidFill>
                  <a:srgbClr val="FFFFFF"/>
                </a:solidFill>
                <a:latin typeface="Sitka Subheading Semibold" pitchFamily="2" charset="0"/>
                <a:cs typeface="Tahoma"/>
              </a:rPr>
              <a:t>Neural Watch : Intelligence that thinks before Fraud happens</a:t>
            </a:r>
          </a:p>
          <a:p>
            <a:pPr marL="166370" algn="ctr">
              <a:lnSpc>
                <a:spcPct val="100000"/>
              </a:lnSpc>
              <a:spcBef>
                <a:spcPts val="1470"/>
              </a:spcBef>
            </a:pPr>
            <a:r>
              <a:rPr sz="5400" b="1" dirty="0">
                <a:solidFill>
                  <a:srgbClr val="FFFFFF"/>
                </a:solidFill>
                <a:latin typeface="Sitka Subheading Semibold" pitchFamily="2" charset="0"/>
                <a:cs typeface="Tahoma"/>
              </a:rPr>
              <a:t>(</a:t>
            </a:r>
            <a:r>
              <a:rPr sz="5400" b="1" spc="100" dirty="0">
                <a:solidFill>
                  <a:srgbClr val="FFFFFF"/>
                </a:solidFill>
                <a:latin typeface="Sitka Subheading Semibold" pitchFamily="2" charset="0"/>
                <a:cs typeface="Tahoma"/>
              </a:rPr>
              <a:t>N</a:t>
            </a:r>
            <a:r>
              <a:rPr lang="en-US" sz="5400" b="1" spc="100" dirty="0">
                <a:solidFill>
                  <a:srgbClr val="FFFFFF"/>
                </a:solidFill>
                <a:latin typeface="Sitka Subheading Semibold" pitchFamily="2" charset="0"/>
                <a:cs typeface="Tahoma"/>
              </a:rPr>
              <a:t>eural Nexus</a:t>
            </a:r>
            <a:r>
              <a:rPr sz="5400" b="1" spc="100" dirty="0">
                <a:solidFill>
                  <a:srgbClr val="FFFFFF"/>
                </a:solidFill>
                <a:latin typeface="Sitka Subheading Semibold" pitchFamily="2" charset="0"/>
                <a:cs typeface="Tahoma"/>
              </a:rPr>
              <a:t>)</a:t>
            </a:r>
            <a:endParaRPr sz="5400" dirty="0">
              <a:latin typeface="Sitka Subheading Semibold" pitchFamily="2" charset="0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24942"/>
            <a:ext cx="18287999" cy="76199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084718" y="1557785"/>
            <a:ext cx="3543300" cy="3051175"/>
            <a:chOff x="7084718" y="1557785"/>
            <a:chExt cx="3543300" cy="305117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84718" y="2066314"/>
              <a:ext cx="3543050" cy="175534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43567" y="1557785"/>
              <a:ext cx="1795792" cy="31547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99914" y="4151836"/>
              <a:ext cx="1613786" cy="45703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312125" y="1848502"/>
            <a:ext cx="1064260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b="1" spc="-135" dirty="0">
                <a:solidFill>
                  <a:srgbClr val="FFFFFF"/>
                </a:solidFill>
                <a:latin typeface="Verdana"/>
                <a:cs typeface="Verdana"/>
              </a:rPr>
              <a:t>presents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35405" y="3920302"/>
            <a:ext cx="1172845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120" dirty="0">
                <a:solidFill>
                  <a:srgbClr val="FFFFFF"/>
                </a:solidFill>
                <a:latin typeface="Verdana"/>
                <a:cs typeface="Verdana"/>
              </a:rPr>
              <a:t>Silver</a:t>
            </a:r>
            <a:r>
              <a:rPr sz="1300" b="1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00" b="1" spc="-80" dirty="0">
                <a:solidFill>
                  <a:srgbClr val="FFFFFF"/>
                </a:solidFill>
                <a:latin typeface="Verdana"/>
                <a:cs typeface="Verdana"/>
              </a:rPr>
              <a:t>sponsor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72843" y="90857"/>
            <a:ext cx="17913350" cy="1129030"/>
            <a:chOff x="272843" y="90857"/>
            <a:chExt cx="17913350" cy="112903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995445" y="138644"/>
              <a:ext cx="1190624" cy="8858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2843" y="158395"/>
              <a:ext cx="883160" cy="9125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3397" y="90857"/>
              <a:ext cx="1099044" cy="1128483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8607038" y="8896376"/>
            <a:ext cx="1118235" cy="361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1285" marR="5080" indent="-109220">
              <a:lnSpc>
                <a:spcPct val="110000"/>
              </a:lnSpc>
              <a:spcBef>
                <a:spcPts val="95"/>
              </a:spcBef>
            </a:pPr>
            <a:r>
              <a:rPr sz="1000" b="1" spc="-60" dirty="0">
                <a:solidFill>
                  <a:srgbClr val="FFFFFF"/>
                </a:solidFill>
                <a:latin typeface="Verdana"/>
                <a:cs typeface="Verdana"/>
              </a:rPr>
              <a:t>Official</a:t>
            </a:r>
            <a:r>
              <a:rPr sz="1000" b="1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000" b="1" spc="-65" dirty="0">
                <a:solidFill>
                  <a:srgbClr val="FFFFFF"/>
                </a:solidFill>
                <a:latin typeface="Verdana"/>
                <a:cs typeface="Verdana"/>
              </a:rPr>
              <a:t>Sparkling </a:t>
            </a:r>
            <a:r>
              <a:rPr sz="1000" b="1" spc="-80" dirty="0">
                <a:solidFill>
                  <a:srgbClr val="FFFFFF"/>
                </a:solidFill>
                <a:latin typeface="Verdana"/>
                <a:cs typeface="Verdana"/>
              </a:rPr>
              <a:t>water</a:t>
            </a:r>
            <a:r>
              <a:rPr sz="1000" b="1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Verdana"/>
                <a:cs typeface="Verdana"/>
              </a:rPr>
              <a:t>partner</a:t>
            </a:r>
            <a:endParaRPr sz="1000">
              <a:latin typeface="Verdana"/>
              <a:cs typeface="Verdan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631690" y="8151762"/>
            <a:ext cx="1068106" cy="77460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180771" y="8315969"/>
            <a:ext cx="1657349" cy="74294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290071" y="8472000"/>
            <a:ext cx="1438274" cy="55244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263461" y="8246587"/>
            <a:ext cx="1419224" cy="100012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4312205" y="8472000"/>
            <a:ext cx="1800224" cy="62864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140934" y="8403370"/>
            <a:ext cx="1724024" cy="68579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610913" y="8067008"/>
            <a:ext cx="1343024" cy="1142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24942"/>
            <a:ext cx="18287999" cy="7619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18288001" cy="4532297"/>
            <a:chOff x="0" y="0"/>
            <a:chExt cx="18288001" cy="4532297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" y="116667"/>
              <a:ext cx="18287999" cy="441563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8288000" cy="1163955"/>
            </a:xfrm>
            <a:custGeom>
              <a:avLst/>
              <a:gdLst/>
              <a:ahLst/>
              <a:cxnLst/>
              <a:rect l="l" t="t" r="r" b="b"/>
              <a:pathLst>
                <a:path w="18288000" h="1163955">
                  <a:moveTo>
                    <a:pt x="18288000" y="1163806"/>
                  </a:moveTo>
                  <a:lnTo>
                    <a:pt x="0" y="1163806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1163806"/>
                  </a:lnTo>
                  <a:close/>
                </a:path>
              </a:pathLst>
            </a:custGeom>
            <a:solidFill>
              <a:srgbClr val="DEE34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489034" y="90857"/>
              <a:ext cx="2581274" cy="9810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2843" y="158395"/>
              <a:ext cx="883160" cy="9125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3397" y="90857"/>
              <a:ext cx="1099044" cy="1128483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-1066800" y="833171"/>
            <a:ext cx="9135390" cy="1844446"/>
          </a:xfrm>
          <a:prstGeom prst="rect">
            <a:avLst/>
          </a:prstGeom>
        </p:spPr>
        <p:txBody>
          <a:bodyPr vert="horz" wrap="square" lIns="0" tIns="555020" rIns="0" bIns="0" rtlCol="0">
            <a:spAutoFit/>
          </a:bodyPr>
          <a:lstStyle/>
          <a:p>
            <a:pPr algn="ctr">
              <a:lnSpc>
                <a:spcPts val="11105"/>
              </a:lnSpc>
              <a:spcBef>
                <a:spcPts val="100"/>
              </a:spcBef>
            </a:pPr>
            <a:r>
              <a:rPr sz="7200" spc="-6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7200" spc="-8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7200" spc="-7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lang="en-US" sz="7200" spc="-7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F9FE62-A112-A772-C5A8-46CC63AB612D}"/>
              </a:ext>
            </a:extLst>
          </p:cNvPr>
          <p:cNvSpPr txBox="1"/>
          <p:nvPr/>
        </p:nvSpPr>
        <p:spPr>
          <a:xfrm>
            <a:off x="381000" y="3931454"/>
            <a:ext cx="1722120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Fraud Detection System (Elite Level – Real-Time Adaptive Intelligence):</a:t>
            </a:r>
          </a:p>
          <a:p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 system that can detect and prevent financial fraud before transactions are completed. The system should identify coordinated, stealthy, and evolving fraud patterns across users and </a:t>
            </a:r>
            <a:r>
              <a:rPr lang="en-US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channels.It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must analyze behavior, transaction context, and device intelligence to detect anomalies. Focus on real-time decision-making with minimal latency. The solution should balance accuracy, adaptability, and explainability. </a:t>
            </a:r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3382054" y="661243"/>
            <a:ext cx="11268990" cy="1844446"/>
          </a:xfrm>
          <a:prstGeom prst="rect">
            <a:avLst/>
          </a:prstGeom>
        </p:spPr>
        <p:txBody>
          <a:bodyPr vert="horz" wrap="square" lIns="0" tIns="555020" rIns="0" bIns="0" rtlCol="0">
            <a:spAutoFit/>
          </a:bodyPr>
          <a:lstStyle/>
          <a:p>
            <a:pPr marL="635" algn="ctr">
              <a:lnSpc>
                <a:spcPts val="11105"/>
              </a:lnSpc>
              <a:spcBef>
                <a:spcPts val="100"/>
              </a:spcBef>
            </a:pPr>
            <a:r>
              <a:rPr sz="7200" spc="-5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US" sz="7200" spc="-5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7200" spc="-5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24942"/>
            <a:ext cx="18287999" cy="76199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0"/>
            <a:ext cx="18288000" cy="4415630"/>
            <a:chOff x="0" y="0"/>
            <a:chExt cx="18288000" cy="441563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8287999" cy="441563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8288000" cy="1163955"/>
            </a:xfrm>
            <a:custGeom>
              <a:avLst/>
              <a:gdLst/>
              <a:ahLst/>
              <a:cxnLst/>
              <a:rect l="l" t="t" r="r" b="b"/>
              <a:pathLst>
                <a:path w="18288000" h="1163955">
                  <a:moveTo>
                    <a:pt x="18288000" y="1163806"/>
                  </a:moveTo>
                  <a:lnTo>
                    <a:pt x="0" y="1163806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1163806"/>
                  </a:lnTo>
                  <a:close/>
                </a:path>
              </a:pathLst>
            </a:custGeom>
            <a:solidFill>
              <a:srgbClr val="DEE3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489034" y="90857"/>
              <a:ext cx="2581274" cy="9810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2843" y="158395"/>
              <a:ext cx="883160" cy="9125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3397" y="90857"/>
              <a:ext cx="1099044" cy="1128483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408777B-B0D8-5386-643E-0190BFBDAC22}"/>
              </a:ext>
            </a:extLst>
          </p:cNvPr>
          <p:cNvSpPr txBox="1"/>
          <p:nvPr/>
        </p:nvSpPr>
        <p:spPr>
          <a:xfrm>
            <a:off x="457200" y="3072388"/>
            <a:ext cx="16506259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+mj-lt"/>
              <a:buAutoNum type="romanLcPeriod"/>
            </a:pPr>
            <a:r>
              <a:rPr lang="en-IN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NeuralNexus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real-time fraud detection system designed to identify and prevent fraudulent transactions before execution.</a:t>
            </a:r>
          </a:p>
          <a:p>
            <a:pPr marL="571500" indent="-571500" algn="just">
              <a:buFont typeface="+mj-lt"/>
              <a:buAutoNum type="romanLcPeriod"/>
            </a:pP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+mj-lt"/>
              <a:buAutoNum type="romanLcPeriod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uses a hybrid approach combining machine learning (</a:t>
            </a:r>
            <a:r>
              <a:rPr lang="en-IN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Isolation Forest, Autoencoder) with rule-based logic.</a:t>
            </a:r>
          </a:p>
          <a:p>
            <a:pPr marL="571500" indent="-571500" algn="just">
              <a:buFont typeface="+mj-lt"/>
              <a:buAutoNum type="romanLcPeriod"/>
            </a:pP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+mj-lt"/>
              <a:buAutoNum type="romanLcPeriod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builds dynamic user </a:t>
            </a:r>
            <a:r>
              <a:rPr lang="en-IN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profiles using transaction history, device, and location data.</a:t>
            </a:r>
          </a:p>
          <a:p>
            <a:pPr marL="571500" indent="-571500" algn="just">
              <a:buFont typeface="+mj-lt"/>
              <a:buAutoNum type="romanLcPeriod"/>
            </a:pP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+mj-lt"/>
              <a:buAutoNum type="romanLcPeriod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transaction is processed through feature engineering, ML prediction, and rule validation to generate a risk score.</a:t>
            </a:r>
          </a:p>
          <a:p>
            <a:pPr marL="571500" indent="-571500" algn="just">
              <a:buFont typeface="+mj-lt"/>
              <a:buAutoNum type="romanLcPeriod"/>
            </a:pP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+mj-lt"/>
              <a:buAutoNum type="romanLcPeriod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risk level, the system makes instant decisions such as approve, trigger MFA, or block the transaction.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066800" y="433126"/>
            <a:ext cx="11268990" cy="1892536"/>
          </a:xfrm>
          <a:prstGeom prst="rect">
            <a:avLst/>
          </a:prstGeom>
        </p:spPr>
        <p:txBody>
          <a:bodyPr vert="horz" wrap="square" lIns="0" tIns="555020" rIns="0" bIns="0" rtlCol="0">
            <a:spAutoFit/>
          </a:bodyPr>
          <a:lstStyle/>
          <a:p>
            <a:pPr algn="ctr">
              <a:lnSpc>
                <a:spcPts val="11105"/>
              </a:lnSpc>
              <a:spcBef>
                <a:spcPts val="100"/>
              </a:spcBef>
            </a:pPr>
            <a:r>
              <a:rPr sz="8800" spc="-7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8800" spc="-8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8800" spc="-6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lang="en-US" sz="8800" spc="-6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24942"/>
            <a:ext cx="18287999" cy="76199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-4305" y="-13050"/>
            <a:ext cx="18288000" cy="5030324"/>
            <a:chOff x="0" y="0"/>
            <a:chExt cx="18288000" cy="5030324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" y="614694"/>
              <a:ext cx="18287999" cy="441563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8288000" cy="1163955"/>
            </a:xfrm>
            <a:custGeom>
              <a:avLst/>
              <a:gdLst/>
              <a:ahLst/>
              <a:cxnLst/>
              <a:rect l="l" t="t" r="r" b="b"/>
              <a:pathLst>
                <a:path w="18288000" h="1163955">
                  <a:moveTo>
                    <a:pt x="18288000" y="1163806"/>
                  </a:moveTo>
                  <a:lnTo>
                    <a:pt x="0" y="1163806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1163806"/>
                  </a:lnTo>
                  <a:close/>
                </a:path>
              </a:pathLst>
            </a:custGeom>
            <a:solidFill>
              <a:srgbClr val="DEE3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489034" y="90857"/>
              <a:ext cx="2581274" cy="9810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2843" y="158395"/>
              <a:ext cx="883160" cy="9125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3397" y="90857"/>
              <a:ext cx="1099044" cy="11284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2E4BD2C-EB6C-EED2-54ED-74AE2D2AAE8D}"/>
              </a:ext>
            </a:extLst>
          </p:cNvPr>
          <p:cNvSpPr txBox="1"/>
          <p:nvPr/>
        </p:nvSpPr>
        <p:spPr>
          <a:xfrm>
            <a:off x="7086600" y="8755626"/>
            <a:ext cx="10134600" cy="479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chemeClr val="bg1"/>
                </a:solidFill>
              </a:rPr>
              <a:t>Fig.1: System Architecture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D7C594B-D8CF-9E2F-33FA-311B5B3E8E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8136" y="2297574"/>
            <a:ext cx="13830064" cy="6860713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C522320-BC0E-0AA7-CDB9-76454814A6CA}"/>
              </a:ext>
            </a:extLst>
          </p:cNvPr>
          <p:cNvCxnSpPr/>
          <p:nvPr/>
        </p:nvCxnSpPr>
        <p:spPr>
          <a:xfrm flipV="1">
            <a:off x="4724400" y="3695700"/>
            <a:ext cx="0" cy="457200"/>
          </a:xfrm>
          <a:prstGeom prst="straightConnector1">
            <a:avLst/>
          </a:prstGeom>
          <a:ln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EDE68B6-0C98-2610-258D-B9FB368F96BC}"/>
              </a:ext>
            </a:extLst>
          </p:cNvPr>
          <p:cNvCxnSpPr>
            <a:cxnSpLocks/>
          </p:cNvCxnSpPr>
          <p:nvPr/>
        </p:nvCxnSpPr>
        <p:spPr>
          <a:xfrm flipH="1">
            <a:off x="5715000" y="5320720"/>
            <a:ext cx="1905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4253007-5770-605F-0258-747D118549E8}"/>
              </a:ext>
            </a:extLst>
          </p:cNvPr>
          <p:cNvCxnSpPr/>
          <p:nvPr/>
        </p:nvCxnSpPr>
        <p:spPr>
          <a:xfrm flipV="1">
            <a:off x="5715000" y="4744720"/>
            <a:ext cx="0" cy="5760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843" y="1733053"/>
            <a:ext cx="5517515" cy="1466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450" spc="-5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  <a:r>
              <a:rPr lang="en-US" sz="9450" spc="-5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9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10895" y="4941619"/>
            <a:ext cx="9467215" cy="670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endParaRPr sz="4200" dirty="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8288000" cy="4817062"/>
            <a:chOff x="0" y="0"/>
            <a:chExt cx="18288000" cy="4817062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401432"/>
              <a:ext cx="18287999" cy="441563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8288000" cy="1163955"/>
            </a:xfrm>
            <a:custGeom>
              <a:avLst/>
              <a:gdLst/>
              <a:ahLst/>
              <a:cxnLst/>
              <a:rect l="l" t="t" r="r" b="b"/>
              <a:pathLst>
                <a:path w="18288000" h="1163955">
                  <a:moveTo>
                    <a:pt x="18288000" y="1163806"/>
                  </a:moveTo>
                  <a:lnTo>
                    <a:pt x="0" y="1163806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1163806"/>
                  </a:lnTo>
                  <a:close/>
                </a:path>
              </a:pathLst>
            </a:custGeom>
            <a:solidFill>
              <a:srgbClr val="DEE3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489034" y="90857"/>
              <a:ext cx="2581274" cy="9810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2843" y="158395"/>
              <a:ext cx="883160" cy="9125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3397" y="90857"/>
              <a:ext cx="1099044" cy="1128483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9524942"/>
            <a:ext cx="18287999" cy="761999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89458EC4-E0E3-5083-F57A-13620B57E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468" y="3537189"/>
            <a:ext cx="17252097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technically feasible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proven technologies like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Redis, and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supports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processing (~70ms latency)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making it suitable for live financial systems.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modular architecture ensures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integration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banking and fintech platforms via APIs.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as it relies on open-source tools and scalable cloud infrastructure.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Continuous learning capability makes the system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adaptive to evolving fraud patterns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843" y="1471356"/>
            <a:ext cx="8143875" cy="1466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450" spc="-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r>
              <a:rPr sz="9450" spc="-8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9450" spc="-6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US" sz="9450" spc="-6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9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8288000" cy="4415790"/>
            <a:chOff x="0" y="0"/>
            <a:chExt cx="18288000" cy="44157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441563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8288000" cy="1163955"/>
            </a:xfrm>
            <a:custGeom>
              <a:avLst/>
              <a:gdLst/>
              <a:ahLst/>
              <a:cxnLst/>
              <a:rect l="l" t="t" r="r" b="b"/>
              <a:pathLst>
                <a:path w="18288000" h="1163955">
                  <a:moveTo>
                    <a:pt x="18288000" y="1163806"/>
                  </a:moveTo>
                  <a:lnTo>
                    <a:pt x="0" y="1163806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1163806"/>
                  </a:lnTo>
                  <a:close/>
                </a:path>
              </a:pathLst>
            </a:custGeom>
            <a:solidFill>
              <a:srgbClr val="DEE3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489034" y="90857"/>
              <a:ext cx="2581274" cy="9810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2843" y="158395"/>
              <a:ext cx="883160" cy="9125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3397" y="90857"/>
              <a:ext cx="1099044" cy="1128483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9524942"/>
            <a:ext cx="18287999" cy="7619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867D536-C2D0-24D0-639B-4C2EBF7C8231}"/>
              </a:ext>
            </a:extLst>
          </p:cNvPr>
          <p:cNvSpPr txBox="1"/>
          <p:nvPr/>
        </p:nvSpPr>
        <p:spPr>
          <a:xfrm>
            <a:off x="381000" y="3574052"/>
            <a:ext cx="172212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+mj-lt"/>
              <a:buAutoNum type="romanLcPeriod"/>
            </a:pPr>
            <a:r>
              <a:rPr lang="en-US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NeuralNexus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follows a 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B2B SaaS model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targeting banks, fintech companies, and payment platforms. </a:t>
            </a:r>
          </a:p>
          <a:p>
            <a:pPr marL="571500" indent="-571500" algn="just">
              <a:buFont typeface="+mj-lt"/>
              <a:buAutoNum type="romanLcPeriod"/>
            </a:pP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+mj-lt"/>
              <a:buAutoNum type="romanLcPeriod"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can be generated through 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API-based pricing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(per transaction processed). </a:t>
            </a:r>
          </a:p>
          <a:p>
            <a:pPr marL="571500" indent="-571500" algn="just">
              <a:buFont typeface="+mj-lt"/>
              <a:buAutoNum type="romanLcPeriod"/>
            </a:pP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+mj-lt"/>
              <a:buAutoNum type="romanLcPeriod"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 integrate 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Subscription plans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(Basic, Pro, Enterprise) provide 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tiered feature access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571500" indent="-571500" algn="just">
              <a:buFont typeface="+mj-lt"/>
              <a:buAutoNum type="romanLcPeriod"/>
            </a:pP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+mj-lt"/>
              <a:buAutoNum type="romanLcPeriod"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Additional income comes from 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fraud prevention savings sharing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analytics dashboards. </a:t>
            </a:r>
          </a:p>
          <a:p>
            <a:pPr marL="571500" indent="-571500" algn="just">
              <a:buFont typeface="+mj-lt"/>
              <a:buAutoNum type="romanLcPeriod"/>
            </a:pP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+mj-lt"/>
              <a:buAutoNum type="romanLcPeriod"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delivers value by 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reducing financial losses, improving security, and ensuring compliance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843" y="1336283"/>
            <a:ext cx="6954520" cy="1466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450" spc="-6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</a:t>
            </a:r>
            <a:r>
              <a:rPr sz="9450" spc="-8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9450" spc="-7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r>
              <a:rPr lang="en-US" sz="9450" spc="-7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9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8288000" cy="4423798"/>
            <a:chOff x="0" y="0"/>
            <a:chExt cx="18288000" cy="4423798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8168"/>
              <a:ext cx="18287999" cy="441563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8288000" cy="1163955"/>
            </a:xfrm>
            <a:custGeom>
              <a:avLst/>
              <a:gdLst/>
              <a:ahLst/>
              <a:cxnLst/>
              <a:rect l="l" t="t" r="r" b="b"/>
              <a:pathLst>
                <a:path w="18288000" h="1163955">
                  <a:moveTo>
                    <a:pt x="18288000" y="1163806"/>
                  </a:moveTo>
                  <a:lnTo>
                    <a:pt x="0" y="1163806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1163806"/>
                  </a:lnTo>
                  <a:close/>
                </a:path>
              </a:pathLst>
            </a:custGeom>
            <a:solidFill>
              <a:srgbClr val="DEE3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489034" y="90857"/>
              <a:ext cx="2581274" cy="9810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2843" y="158395"/>
              <a:ext cx="883160" cy="9125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3397" y="90857"/>
              <a:ext cx="1099044" cy="1128483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9524942"/>
            <a:ext cx="18287999" cy="7619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0FC3444-6298-FC14-F1C3-5AC152E8E683}"/>
              </a:ext>
            </a:extLst>
          </p:cNvPr>
          <p:cNvSpPr txBox="1"/>
          <p:nvPr/>
        </p:nvSpPr>
        <p:spPr>
          <a:xfrm>
            <a:off x="914400" y="3854526"/>
            <a:ext cx="163830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future, the system can be expanded to support multi-channel fraud detection, including  credit cards, and cryptocurrency transactions, making it more adaptable to diverse financial ecosystems. The inclusion of real-time alerting mechanisms and advanced analytics dashboards will provide instant notifications and deeper insights into fraud patterns, improving response time and decision-making. Furthermore, integrating global compliance frameworks will ensure that the system meets international regulatory standards, increasing its scalability and adoption across different regions. Continuous enhancement of </a:t>
            </a:r>
            <a:r>
              <a:rPr lang="en-IN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analysis and rule-based systems will further improve detection accuracy and system reliability.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86319" y="6862620"/>
            <a:ext cx="1480820" cy="3048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b="1" spc="-135" dirty="0">
                <a:solidFill>
                  <a:srgbClr val="FFFFFF"/>
                </a:solidFill>
                <a:latin typeface="Verdana"/>
                <a:cs typeface="Verdana"/>
              </a:rPr>
              <a:t>Title</a:t>
            </a:r>
            <a:r>
              <a:rPr sz="1800" b="1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-114" dirty="0">
                <a:solidFill>
                  <a:srgbClr val="FFFFFF"/>
                </a:solidFill>
                <a:latin typeface="Verdana"/>
                <a:cs typeface="Verdana"/>
              </a:rPr>
              <a:t>sponsor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039620">
              <a:lnSpc>
                <a:spcPct val="100000"/>
              </a:lnSpc>
              <a:spcBef>
                <a:spcPts val="135"/>
              </a:spcBef>
            </a:pPr>
            <a:r>
              <a:rPr spc="-740" dirty="0"/>
              <a:t>Thank</a:t>
            </a:r>
            <a:r>
              <a:rPr spc="-1050" dirty="0"/>
              <a:t> </a:t>
            </a:r>
            <a:r>
              <a:rPr spc="-615" dirty="0"/>
              <a:t>you!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8288000" cy="4415790"/>
            <a:chOff x="0" y="0"/>
            <a:chExt cx="18288000" cy="44157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441563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8288000" cy="1163955"/>
            </a:xfrm>
            <a:custGeom>
              <a:avLst/>
              <a:gdLst/>
              <a:ahLst/>
              <a:cxnLst/>
              <a:rect l="l" t="t" r="r" b="b"/>
              <a:pathLst>
                <a:path w="18288000" h="1163955">
                  <a:moveTo>
                    <a:pt x="18288000" y="1163806"/>
                  </a:moveTo>
                  <a:lnTo>
                    <a:pt x="0" y="1163806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1163806"/>
                  </a:lnTo>
                  <a:close/>
                </a:path>
              </a:pathLst>
            </a:custGeom>
            <a:solidFill>
              <a:srgbClr val="DEE3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489034" y="90857"/>
              <a:ext cx="2581274" cy="9810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2843" y="158395"/>
              <a:ext cx="883160" cy="9125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3397" y="90857"/>
              <a:ext cx="1099044" cy="1128483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9524942"/>
            <a:ext cx="18287999" cy="7619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607038" y="8896376"/>
            <a:ext cx="1118235" cy="361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1285" marR="5080" indent="-109220">
              <a:lnSpc>
                <a:spcPct val="110000"/>
              </a:lnSpc>
              <a:spcBef>
                <a:spcPts val="95"/>
              </a:spcBef>
            </a:pPr>
            <a:r>
              <a:rPr sz="1000" b="1" spc="-60" dirty="0">
                <a:solidFill>
                  <a:srgbClr val="FFFFFF"/>
                </a:solidFill>
                <a:latin typeface="Verdana"/>
                <a:cs typeface="Verdana"/>
              </a:rPr>
              <a:t>Official</a:t>
            </a:r>
            <a:r>
              <a:rPr sz="1000" b="1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000" b="1" spc="-65" dirty="0">
                <a:solidFill>
                  <a:srgbClr val="FFFFFF"/>
                </a:solidFill>
                <a:latin typeface="Verdana"/>
                <a:cs typeface="Verdana"/>
              </a:rPr>
              <a:t>Sparkling </a:t>
            </a:r>
            <a:r>
              <a:rPr sz="1000" b="1" spc="-80" dirty="0">
                <a:solidFill>
                  <a:srgbClr val="FFFFFF"/>
                </a:solidFill>
                <a:latin typeface="Verdana"/>
                <a:cs typeface="Verdana"/>
              </a:rPr>
              <a:t>water</a:t>
            </a:r>
            <a:r>
              <a:rPr sz="1000" b="1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Verdana"/>
                <a:cs typeface="Verdana"/>
              </a:rPr>
              <a:t>partner</a:t>
            </a:r>
            <a:endParaRPr sz="1000">
              <a:latin typeface="Verdana"/>
              <a:cs typeface="Verdan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31690" y="8151762"/>
            <a:ext cx="1068106" cy="77460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180771" y="8315969"/>
            <a:ext cx="1657349" cy="74294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290071" y="8472000"/>
            <a:ext cx="1438274" cy="55244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263461" y="8246587"/>
            <a:ext cx="1419224" cy="100012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312205" y="8472000"/>
            <a:ext cx="1800224" cy="62864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140934" y="8403370"/>
            <a:ext cx="1724024" cy="68579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610913" y="8067008"/>
            <a:ext cx="1343024" cy="114299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370489" y="7286878"/>
            <a:ext cx="2486024" cy="43814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362640" y="7190340"/>
            <a:ext cx="2228849" cy="628649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9791913" y="6862620"/>
            <a:ext cx="1613535" cy="3048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b="1" spc="-160" dirty="0">
                <a:solidFill>
                  <a:srgbClr val="FFFFFF"/>
                </a:solidFill>
                <a:latin typeface="Verdana"/>
                <a:cs typeface="Verdana"/>
              </a:rPr>
              <a:t>Silver</a:t>
            </a:r>
            <a:r>
              <a:rPr sz="1800" b="1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-114" dirty="0">
                <a:solidFill>
                  <a:srgbClr val="FFFFFF"/>
                </a:solidFill>
                <a:latin typeface="Verdana"/>
                <a:cs typeface="Verdana"/>
              </a:rPr>
              <a:t>sponsor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</TotalTime>
  <Words>477</Words>
  <Application>Microsoft Office PowerPoint</Application>
  <PresentationFormat>Custom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Sitka Subheading Semibold</vt:lpstr>
      <vt:lpstr>Tahoma</vt:lpstr>
      <vt:lpstr>Times New Roman</vt:lpstr>
      <vt:lpstr>Verdana</vt:lpstr>
      <vt:lpstr>Office Theme</vt:lpstr>
      <vt:lpstr>PowerPoint Presentation</vt:lpstr>
      <vt:lpstr>Problem Statement:</vt:lpstr>
      <vt:lpstr>Solution:</vt:lpstr>
      <vt:lpstr>System Architecture:</vt:lpstr>
      <vt:lpstr>Feasibility:</vt:lpstr>
      <vt:lpstr>Business Model:</vt:lpstr>
      <vt:lpstr>Future Scope: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finals ppt template  |Hack up</dc:title>
  <dc:creator>Niki Unnikrishnan</dc:creator>
  <cp:keywords>DAG-79t_JU0,BAGVl6YIJOQ,0</cp:keywords>
  <cp:lastModifiedBy>Prerana Balip</cp:lastModifiedBy>
  <cp:revision>6</cp:revision>
  <dcterms:created xsi:type="dcterms:W3CDTF">2026-04-04T00:13:53Z</dcterms:created>
  <dcterms:modified xsi:type="dcterms:W3CDTF">2026-08-16T13:41:21Z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2026-04-04T00:00:00Z</vt:filetime>
  </property>
  <property fmtid="{D5CDD505-2E9C-101B-9397-08002B2CF9AE}" pid="3" name="Creator">
    <vt:lpwstr>Canva</vt:lpwstr>
  </property>
  <property fmtid="{D5CDD505-2E9C-101B-9397-08002B2CF9AE}" pid="4" name="LastSaved">
    <vt:filetime>2026-04-04T00:00:00Z</vt:filetime>
  </property>
  <property fmtid="{D5CDD505-2E9C-101B-9397-08002B2CF9AE}" pid="5" name="Producer">
    <vt:lpwstr>Canva</vt:lpwstr>
  </property>
</Properties>
</file>